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  <p:sldId id="263" r:id="rId9"/>
    <p:sldId id="264" r:id="rId10"/>
    <p:sldId id="279" r:id="rId38"/>
    <p:sldId id="265" r:id="rId11"/>
    <p:sldId id="266" r:id="rId12"/>
    <p:sldId id="267" r:id="rId13"/>
    <p:sldId id="268" r:id="rId14"/>
    <p:sldId id="269" r:id="rId15"/>
    <p:sldId id="270" r:id="rId16"/>
    <p:sldId id="280" r:id="rId39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-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openxmlformats.org/officeDocument/2006/relationships/slide" Target="slides/slide24.xml"/><Relationship Id="rId39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79485753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79485753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SLIDES_API1794857539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SLIDES_API1794857539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SLIDES_API1794857539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SLIDES_API1794857539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S_API1794857539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S_API1794857539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S_API1794857539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S_API1794857539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SLIDES_API1794857539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SLIDES_API1794857539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SLIDES_API1794857539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SLIDES_API1794857539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SLIDES_API1794857539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SLIDES_API1794857539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SLIDES_API1794857539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SLIDES_API1794857539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SLIDES_API1794857539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SLIDES_API1794857539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SLIDES_API1794857539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SLIDES_API1794857539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SLIDES_API1794857539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SLIDES_API1794857539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SLIDES_API1794857539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SLIDES_API1794857539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SLIDES_API1794857539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SLIDES_API1794857539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SLIDES_API1794857539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SLIDES_API1794857539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SLIDES_API1794857539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SLIDES_API1794857539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SLIDES_API1794857539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SLIDES_API1794857539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SLIDES_API1794857539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SLIDES_API1794857539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SLIDES_API1794857539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SLIDES_API1794857539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SLIDES_API1794857539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SLIDES_API1794857539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SLIDES_API1794857539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SLIDES_API1794857539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SLIDES_API1794857539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SLIDES_API1794857539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SLIDES_API1794857539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SLIDES_API1794857539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C1C1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Invisible Users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Designing the Web for AI Agents and Everyone Else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35000" y="2159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Tom Cranstoun: Many years in Adobe CMS &amp; AI innovation.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Consultant at Digital Domain Technologies Ltd.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Philosophy: "AI should amplify, not replace, human expertise."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Focus: Building zero-dependency, agent-friendly web architectures.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35000" y="4381500"/>
            <a:ext cx="78741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</a:rPr>
              <a:t>Tom Cranstoun | Due Q1 2026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Understanding Invisible Users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Two reasons they're called 'invisible'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19270" y="2159000"/>
            <a:ext cx="902473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Invisible to site owners - blend into analytics, come once and leave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 Interface is invisible to them - can't see animations, </a:t>
            </a: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color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toasts, spinners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Not theoretical futures - happening today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Same failures affect screen reader users (invisible to designers for 27 years)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Visual feedback invisible to AI agents AND blind users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Sites that work get preferred by both - first-mover advantage that's hard to claw back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Who Are The Invisible Users?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AI Agents You Can't See or Track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0" y="2159000"/>
            <a:ext cx="896112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Most companies don't track AI bot traffic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Some prohibit AI bots (</a:t>
            </a: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robots.txt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), some block them (Cloudflare Identity checks)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Modern AI browsers DO identify as bots (ChatGPT, </a:t>
            </a: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BrowserOps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Comet, Neo, DIA)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BUT: User-Agent strings cannot be trusted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Some agents are browser extensions, others are Playwright-driven automation,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Site owners can no longer reliably tell what is human, what is AI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Five Types of AI Agents</a:t>
            </a:r>
          </a:p>
        </p:txBody>
      </p:sp>
      <p:sp>
        <p:nvSpPr>
          <p:cNvPr id="109" name="Google Shape;109;p19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Different Technical Constraints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135172" y="2159000"/>
            <a:ext cx="8873656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Server-Side (ChatGPT, Claude) - Cannot see JavaScript/CSS, need semantic HTML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In-Browser (Copilot, extensions) - See rendered pages, need explicit state in DOM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Browser Automation (Perplexity, Playwright) - Full browser control + screenshots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Local/On-Device (Ollama) - Run on user's PC, limited context windows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Each type has different capabilities - but ALL need semantic structure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Understanding constraints helps you design solutions that work for all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/>
            <a:r>
              <a:t>Agentic OS (Cowork) - Orchestrates multiple agents in unified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Agent Journey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90389" y="76205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AI Agents Are Buying Things Right Now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02814" y="1333499"/>
            <a:ext cx="8938371" cy="39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 website has machine readers right now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1: Discovery (Training) - If you're not in their knowledge base, you don't exist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2: Citation (Recommendation) - Agents recommend sources they trust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3: Search &amp; Compare - Agents build comparison lists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4: Price Understanding - Exact pricing or agents skip you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5: Purchase Confidence - Can they complete checkout?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Miss any stage → The entire commerce chain breaks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If agents can't find you, you don't get a look in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AI Referral Surge and The £203,000 Mistake</a:t>
            </a:r>
            <a:endParaRPr sz="24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Adobe Holiday 2025 Data Meets Real-World Agent Failure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66536" y="1994047"/>
            <a:ext cx="6504168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Triple-Digit Growth: AI referrals surged (Retail +700%, Travel +500%)</a:t>
            </a:r>
            <a:endParaRPr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Conversion Flip: AI referrals moved from lagging to leading (+30%)</a:t>
            </a:r>
            <a:endParaRPr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Engagement: AI users spend 50% longer on site, view more pages</a:t>
            </a:r>
            <a:br>
              <a:rPr lang="en-GB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 Example: Claude for Chrome researching Danube cruises (Jan 2025)</a:t>
            </a:r>
            <a:endParaRPr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Returned: £203,000-£402,000 per person. Actual: £2,030-£4,020</a:t>
            </a:r>
            <a:endParaRPr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100x multiplication error from European formatting (€2.030,00)</a:t>
            </a:r>
            <a:endParaRPr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142950" y="1269900"/>
            <a:ext cx="78741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CCCCC"/>
                </a:solidFill>
              </a:rPr>
              <a:t>From experimental to revenue driver - but errors have consequences.</a:t>
            </a:r>
            <a:endParaRPr dirty="0">
              <a:solidFill>
                <a:srgbClr val="CCCCCC"/>
              </a:solidFill>
            </a:endParaRPr>
          </a:p>
        </p:txBody>
      </p:sp>
      <p:pic>
        <p:nvPicPr>
          <p:cNvPr id="4" name="Picture 3" descr="A black sign with white text and red numbers&#10;&#10;AI-generated content may be incorrect.">
            <a:extLst>
              <a:ext uri="{FF2B5EF4-FFF2-40B4-BE49-F238E27FC236}">
                <a16:creationId xmlns:a16="http://schemas.microsoft.com/office/drawing/2014/main" id="{DF9A0820-D181-A878-6CB0-DB4324736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732" y="1867147"/>
            <a:ext cx="2632793" cy="15993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Caused This?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The Error Chain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635000" y="2159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Decimal separator confusion (€2.030,00 vs £2,030)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range validation (£203k &gt; £15k maximum)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comparative checks (58x higher than peers)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cross-referencing against structured data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confidence scoring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reformatting the content masked the problem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Error presented with same confidence as verified data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Current Systems Fail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2539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are 27 years behind the times - should have fixed this for accessibility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0" y="1713727"/>
            <a:ext cx="8890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Modern CMS creates </a:t>
            </a: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divs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without semantic meaning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Content served as plain HTML - JavaScript decorates it later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Example: Adobe's LLM Optimizer detects bots and forks experiences (understandable but suboptimal)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Bots see different pages than browser-based agents see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Solution: Fix HTML for everyone together, not separate bot experiences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Mistake #1: Toast Notifications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The Pattern That Keeps Returning: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523682" y="1651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Removed from forms (good!) -&gt; Reintroduced in shopping cart (bad!)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showToast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('Item added!')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Toast notifications vanish before agents read them.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Form submission appears to fail silently.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Agents abandon the flow.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Solution: Persistent alerts that stay visible.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2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Mistake #2: Hidden Checkout State</a:t>
            </a:r>
            <a:endParaRPr sz="28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State Invisible to Agents: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635000" y="2159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JavaScript-only state (let currentStep = 1)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URL reflection. No DOM attributes.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Agents can't track progress. Refreshing loses state.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Solution: data-state attributes in DOM.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This Happens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Modern web design optimised for visual feedback: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79513" y="1841601"/>
            <a:ext cx="8945217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Single-page applications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Client-side state management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Loading spinners without context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JavaScript-dependent navigation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These patterns break AI agents AND screen readers - same problems, same solutions.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Two HTML States: The Gap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Critical Distinction: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635000" y="2159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Served HTML (static) - What server sends before JS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→ CLI agents, screen readers see this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 Rendered HTML (dynamic) - After JS execution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→ Only browser-based agents see this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Example: &lt;div id='products'&gt;&lt;/div&gt; then fetch()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Product catalogue invisible to most agents AND some assistive tech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5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Myth vs Reality: Why Markdown Fails</a:t>
            </a:r>
            <a:endParaRPr sz="28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1800" dirty="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Common Misconception About AI Content</a:t>
            </a:r>
            <a:br>
              <a:rPr lang="en-GB" sz="1800" dirty="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Context is data - don't make agents think, give them facts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134018" y="1651000"/>
            <a:ext cx="8850956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MYTH: 'Send markdown to LLMs for clean parsing’ – brilliant for Chatbots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REALITY: Markdown STRIPS all metadata and context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gets lost: </a:t>
            </a: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Schema.org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markup, JSON-LD, semantic HTML, ARIA attributes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Agents need enriched HTML, not stripped-down markdown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Solution: Enriched HTML with </a:t>
            </a: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Schema.org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+ JSON-LD + semantic structure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6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Solution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Make Implicit State Explicit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635000" y="2159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rebuilding interfaces in JS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special agent-only experiences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Make lots of small, well-understood changes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Improve accessibility for everyone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patterns that add business value, follows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Pattern #1: Persistent Errors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Instead of vanishing toast notifications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635000" y="2159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&lt;form data-state='incomplete'&gt; with &lt;div role='alert'&gt;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Screen readers announce role='alert' immediately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aria-invalid and aria-describedby work for agents AND users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Business value: Conversion rates improve for everyone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8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Pattern #2: Complete Pricing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Instead of 'From £99'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635000" y="2159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 Schema.org/Offer markup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Voice assistants for blind users read same structured 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Explicit price and currency (machines AND humans need clarity)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&lt;details&gt; for fee breakdown (keyboard navigable)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Business value: Builds trust, reduces cart abandonment for all users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9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Pattern #3: Explicit State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Make cart state visible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635000" y="2159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 attributes: data-state='active', data-item-count='3'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role='status' announces updates to screen readers AND agents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Same state visibility benefits assistive technology users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Business value: State persists. Debugging easier. Accessible to all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0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Small Business Case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You don't need complex infrastructure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635000" y="2159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Simple restaurant site example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Semantic HTML (&lt;nav&gt;, &lt;main&gt;, &lt;article&gt;)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Schema.org markup (Restaurant, Menu, MenuItem)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Minimal effort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Completely agent-friendly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1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Quick Wins: Start Here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Critical Priority 1 Changes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635000" y="2159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Add persistent error messages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Display complete pricing (no hidden fees)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Ensure served HTML contains core content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Add basic Schema.org structured 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Start with highest impact, lowest effort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2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Machine Experience (MX): A New Discipline</a:t>
            </a:r>
            <a:endParaRPr sz="28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Alongside UX, We Need MX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2"/>
          <p:cNvSpPr txBox="1"/>
          <p:nvPr/>
        </p:nvSpPr>
        <p:spPr>
          <a:xfrm>
            <a:off x="83488" y="1333500"/>
            <a:ext cx="8977023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UX = User Experience. MX = Machine Experience.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Just as quality needs dedicated QA engineers, MX needs dedicated roles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When 'everyone's responsible,' accountability vanishes (diffusion of responsibility)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MX specialists define agent-readability standards, audit implementations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 expand existing accessibility roles - technical patterns overlap substantially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Executive commitment </a:t>
            </a:r>
            <a:r>
              <a:rPr lang="en-GB" sz="18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essential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- this requires organization change, not just tech fix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3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This Matters Now: The Seven-Day Platform Race</a:t>
            </a:r>
            <a:endParaRPr sz="24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January 2026 - Three platforms launched in one week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380558" y="17781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Jan 5: Amazon Alexa+ (browser agent launch)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Jan 8: Microsoft Copilot Checkout (proprietary)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Jan 11: Google Universal Commerce Protocol (open standard, like ACP)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Timeline compressed: 12-24 months → 6-9 months or LESS to mainstream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Agent commerce is now infrastructure, not experimental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Sites that adapt early gain first-mover advantage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4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One Solution Serves Everyone: The Convergence Principle</a:t>
            </a:r>
            <a:endParaRPr sz="24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9" name="Google Shape;229;p34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This is the key insight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4"/>
          <p:cNvSpPr txBox="1"/>
          <p:nvPr/>
        </p:nvSpPr>
        <p:spPr>
          <a:xfrm>
            <a:off x="483875" y="12065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machines need = What disabled users have needed for 27 years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trade-offs between accessibility and AI readiness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Fix HTML for everyone together, not separate bot experiences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First-mover advantage for sites that implement patterns now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This is the inflection point - like ChatGPT launch in 2022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Within two years, machines will read websites, not humans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One solution. Everyone benefits. No exceptions.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5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Book &amp; Contact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The Invisible Users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5"/>
          <p:cNvSpPr txBox="1"/>
          <p:nvPr/>
        </p:nvSpPr>
        <p:spPr>
          <a:xfrm>
            <a:off x="635000" y="2159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Tom Cranstoun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tom.cranstoun@gmail.com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| https://</a:t>
            </a: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allabout.network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LinkedIn: https://</a:t>
            </a: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www.linkedin.com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/in/tom-cranstoun/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Book: https://</a:t>
            </a: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allabout.network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/invisible-users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News: https://</a:t>
            </a: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allabout.network</a:t>
            </a:r>
            <a:r>
              <a:rPr lang="en-GB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/invisible-users/</a:t>
            </a:r>
            <a:r>
              <a:rPr lang="en-GB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news.html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5080000" y="1269900"/>
            <a:ext cx="78741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CCCCC"/>
                </a:solidFill>
              </a:rPr>
              <a:t>Questions? Discussion? Your challenges?</a:t>
            </a:r>
            <a:endParaRPr dirty="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" name="Google Shape;123;p21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Real-World Consequences: The Ally McBeal Case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When metadata fails, AI agents hallucinate dangerously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523682" y="1651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Lawyers caught citing fictional cases in court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/>
            <a:r>
              <a:t>AI agents confused Ally McBeal TV scripts with legal precedents</a:t>
            </a:r>
          </a:p>
          <a:p>
            <a:pPr/>
            <a:r>
              <a:t>Without proper microdata/metadata distinguishing entertainment from legal docs</a:t>
            </a:r>
          </a:p>
          <a:p>
            <a:pPr/>
            <a:r>
              <a:t>Agents fabricate details that seem plausible but are dangerously incorrect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" name="Google Shape;123;p21"/>
          <p:cNvSpPr/>
          <p:nvPr/>
        </p:nvSpPr>
        <p:spPr>
          <a:xfrm>
            <a:off x="0" y="0"/>
            <a:ext cx="9144000" cy="1778100"/>
          </a:xfrm>
          <a:prstGeom prst="rect">
            <a:avLst/>
          </a:prstGeom>
          <a:solidFill>
            <a:srgbClr val="0046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254000" y="127000"/>
            <a:ext cx="863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Complete Pricing: JSON-LD Example</a:t>
            </a:r>
            <a:endParaRPr sz="3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254000" y="889000"/>
            <a:ext cx="863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Machine-readable pricing with full cost breakdown, does not change human UI</a:t>
            </a:r>
            <a:endParaRPr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523682" y="1651000"/>
            <a:ext cx="7874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latin typeface="Courier New"/>
              </a:rPr>
              <a:t>{ "@type": "Product", "name": "Laptop", "offers": {</a:t>
            </a:r>
            <a:br/>
            <a:r>
              <a:t>  "@type": "Offer", "price": "999.99", "priceCurrency": "GBP",</a:t>
            </a:r>
            <a:br/>
            <a:r>
              <a:t>  "priceSpecification": [</a:t>
            </a:r>
            <a:br/>
            <a:r>
              <a:t>    { "@type": "UnitPriceSpecification", "price": "899.99", "name": "Base Price" },</a:t>
            </a:r>
            <a:br/>
            <a:br/>
            <a:r>
              <a:t>    { "@type": "DeliveryChargeSpecification", "price": "50.00", "name": "Delivery" },</a:t>
            </a:r>
            <a:br/>
            <a:r>
              <a:t>    { "@type": "PaymentChargeSpecification", "price": "50.00", "name": "Commission" }</a:t>
            </a:r>
            <a:br/>
            <a:r>
              <a:t>  ]</a:t>
            </a:r>
            <a:br/>
            <a:r>
              <a:t>}</a:t>
            </a:r>
            <a:endParaRPr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1533</Words>
  <Application>Microsoft Macintosh PowerPoint</Application>
  <PresentationFormat>On-screen Show (16:9)</PresentationFormat>
  <Paragraphs>261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Roboto</vt:lpstr>
      <vt:lpstr>Arial</vt:lpstr>
      <vt:lpstr>Georgia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tom cranstoun</cp:lastModifiedBy>
  <cp:revision>1</cp:revision>
  <dcterms:modified xsi:type="dcterms:W3CDTF">2026-01-20T22:42:38Z</dcterms:modified>
</cp:coreProperties>
</file>